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Neubau</c:v>
                </c:pt>
              </c:strCache>
            </c:strRef>
          </c:tx>
          <c:spPr>
            <a:solidFill>
              <a:srgbClr val="3E6DE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820.0</c:v>
                </c:pt>
                <c:pt idx="1">
                  <c:v>910.0</c:v>
                </c:pt>
                <c:pt idx="2">
                  <c:v>870.0</c:v>
                </c:pt>
                <c:pt idx="3">
                  <c:v>760.0</c:v>
                </c:pt>
                <c:pt idx="4">
                  <c:v>690.0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Bestand</c:v>
                </c:pt>
              </c:strCache>
            </c:strRef>
          </c:tx>
          <c:spPr>
            <a:solidFill>
              <a:srgbClr val="E0A03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340.0</c:v>
                </c:pt>
                <c:pt idx="1">
                  <c:v>520.0</c:v>
                </c:pt>
                <c:pt idx="2">
                  <c:v>780.0</c:v>
                </c:pt>
                <c:pt idx="3">
                  <c:v>1140.0</c:v>
                </c:pt>
                <c:pt idx="4">
                  <c:v>1580.0</c:v>
                </c:pt>
              </c:numCache>
            </c:numRef>
          </c:val>
        </c:ser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1EE"/>
            </a:solidFill>
          </a:ln>
        </c:spPr>
        <c:txPr>
          <a:bodyPr/>
          <a:lstStyle/>
          <a:p>
            <a:pPr>
              <a:defRPr sz="1100">
                <a:solidFill>
                  <a:srgbClr val="5A678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CE1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A678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A6784"/>
              </a:solidFill>
            </a:defRPr>
          </a:pPr>
        </a:p>
      </c:txPr>
    </c:legend>
    <c:dispBlanksAs val="gap"/>
  </c:chart>
  <c:txPr>
    <a:bodyPr/>
    <a:lstStyle/>
    <a:p>
      <a:pPr>
        <a:defRPr sz="1150">
          <a:solidFill>
            <a:srgbClr val="5A678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Begrüßung, kurz zum Anlass der 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Angaben ohne Personalkosten der bestehenden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5320" y="-1508760"/>
            <a:ext cx="5669280" cy="5669280"/>
          </a:xfrm>
          <a:prstGeom prst="ellipse">
            <a:avLst/>
          </a:prstGeom>
          <a:solidFill>
            <a:srgbClr val="17265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-502920"/>
            <a:ext cx="3657600" cy="3657600"/>
          </a:xfrm>
          <a:prstGeom prst="ellipse">
            <a:avLst/>
          </a:prstGeom>
          <a:solidFill>
            <a:srgbClr val="2028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52360" y="1417320"/>
            <a:ext cx="2834640" cy="2834640"/>
          </a:xfrm>
          <a:prstGeom prst="ellipse">
            <a:avLst/>
          </a:prstGeom>
          <a:noFill/>
          <a:ln w="12700">
            <a:solidFill>
              <a:srgbClr val="575D7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556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988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1852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4692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2124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9556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988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4420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1852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4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9556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1852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1728470"/>
            <a:ext cx="173736" cy="173736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0F1836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1701038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150" b="1" i="0" spc="160">
                <a:solidFill>
                  <a:srgbClr val="3E6DE0"/>
                </a:solidFill>
                <a:latin typeface="Calibri"/>
              </a:rPr>
              <a:t>STRATEGIEPAPIER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121662"/>
            <a:ext cx="7589520" cy="1394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Wärmepumpen im Bestandsbau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02603"/>
            <a:ext cx="6766560" cy="652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B7C3E8"/>
                </a:solidFill>
                <a:latin typeface="Calibri"/>
              </a:rPr>
              <a:t>Warum die nächsten 18 Monate über den Markterfolg entscheiden – und wo wir jetzt investieren müssen.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5332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EA9CD"/>
                </a:solidFill>
                <a:latin typeface="Calibri"/>
              </a:rPr>
              <a:t>Martin Gegenbauer · 17.08.2026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962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 i="0">
                <a:solidFill>
                  <a:srgbClr val="7C9CEA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1600962"/>
            <a:ext cx="9832543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111A33"/>
                </a:solidFill>
                <a:latin typeface="Calibri"/>
              </a:rPr>
              <a:t>Ausgangslage im Markt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23338"/>
            <a:ext cx="10454335" cy="9144"/>
          </a:xfrm>
          <a:prstGeom prst="rect">
            <a:avLst/>
          </a:prstGeom>
          <a:solidFill>
            <a:srgbClr val="DC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50770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 i="0">
                <a:solidFill>
                  <a:srgbClr val="7C9CEA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350770"/>
            <a:ext cx="9832543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111A33"/>
                </a:solidFill>
                <a:latin typeface="Calibri"/>
              </a:rPr>
              <a:t>Wo wir heute stehen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73146"/>
            <a:ext cx="10454335" cy="9144"/>
          </a:xfrm>
          <a:prstGeom prst="rect">
            <a:avLst/>
          </a:prstGeom>
          <a:solidFill>
            <a:srgbClr val="DC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0578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 i="0">
                <a:solidFill>
                  <a:srgbClr val="7C9CEA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100578"/>
            <a:ext cx="9832543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111A33"/>
                </a:solidFill>
                <a:latin typeface="Calibri"/>
              </a:rPr>
              <a:t>Drei Hebel für 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22954"/>
            <a:ext cx="10454335" cy="9144"/>
          </a:xfrm>
          <a:prstGeom prst="rect">
            <a:avLst/>
          </a:prstGeom>
          <a:solidFill>
            <a:srgbClr val="DC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50386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 i="0">
                <a:solidFill>
                  <a:srgbClr val="7C9CEA"/>
                </a:solidFill>
                <a:latin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850386"/>
            <a:ext cx="9832543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111A33"/>
                </a:solidFill>
                <a:latin typeface="Calibri"/>
              </a:rPr>
              <a:t>Investitionsbedarf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762"/>
            <a:ext cx="10454335" cy="9144"/>
          </a:xfrm>
          <a:prstGeom prst="rect">
            <a:avLst/>
          </a:prstGeom>
          <a:solidFill>
            <a:srgbClr val="DC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00194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 i="0">
                <a:solidFill>
                  <a:srgbClr val="7C9CEA"/>
                </a:solidFill>
                <a:latin typeface="Cambr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600194"/>
            <a:ext cx="9832543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650" b="0" i="0">
                <a:solidFill>
                  <a:srgbClr val="111A33"/>
                </a:solidFill>
                <a:latin typeface="Calibri"/>
              </a:rPr>
              <a:t>Nächste Schritte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737360" y="3108960"/>
            <a:ext cx="5120640" cy="5120640"/>
          </a:xfrm>
          <a:prstGeom prst="ellipse">
            <a:avLst/>
          </a:prstGeom>
          <a:solidFill>
            <a:srgbClr val="15244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280160"/>
            <a:ext cx="4023360" cy="4023360"/>
          </a:xfrm>
          <a:prstGeom prst="ellipse">
            <a:avLst/>
          </a:prstGeom>
          <a:solidFill>
            <a:srgbClr val="2028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852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284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9556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1852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9284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9556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6988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4420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1852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9284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702815"/>
            <a:ext cx="2926080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7800" b="1" i="0">
                <a:solidFill>
                  <a:srgbClr val="2B4B9C"/>
                </a:solidFill>
                <a:latin typeface="Cambr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39008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Ausgangslage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43680"/>
            <a:ext cx="6766560" cy="343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B7C3E8"/>
                </a:solidFill>
                <a:latin typeface="Calibri"/>
              </a:rPr>
              <a:t>Der Markt dreht schneller als geplant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Der Markt in Zahlen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98626"/>
            <a:ext cx="9082735" cy="3093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500" b="0" i="0">
                <a:solidFill>
                  <a:srgbClr val="5A6784"/>
                </a:solidFill>
                <a:latin typeface="Calibri"/>
              </a:rPr>
              <a:t>Kennzahlen aus dem abgelaufenen Geschäftsjahr im Vergleich zum Vorjahr.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57222"/>
            <a:ext cx="2416987" cy="26365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541270"/>
            <a:ext cx="1795195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3E6DE0"/>
                </a:solidFill>
                <a:latin typeface="Cambria"/>
              </a:rPr>
              <a:t>+38 %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473958"/>
            <a:ext cx="1795195" cy="496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11A33"/>
                </a:solidFill>
                <a:latin typeface="Calibri"/>
              </a:rPr>
              <a:t>Anfragen Bestandsbau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4098798"/>
            <a:ext cx="1795195" cy="420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5A6784"/>
                </a:solidFill>
                <a:latin typeface="Calibri"/>
              </a:rPr>
              <a:t>getrieben durch die neue Förderkulisse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2555" y="2157222"/>
            <a:ext cx="2416987" cy="26365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3451" y="2541270"/>
            <a:ext cx="1795195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3E6DE0"/>
                </a:solidFill>
                <a:latin typeface="Cambria"/>
              </a:rPr>
              <a:t>14 Wo.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3451" y="3473958"/>
            <a:ext cx="1795195" cy="496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11A33"/>
                </a:solidFill>
                <a:latin typeface="Calibri"/>
              </a:rPr>
              <a:t>Lieferzeit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3451" y="4098798"/>
            <a:ext cx="1795195" cy="420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5A6784"/>
                </a:solidFill>
                <a:latin typeface="Calibri"/>
              </a:rPr>
              <a:t>von der Bestellung bis zur Inbetriebnahme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151" y="2157222"/>
            <a:ext cx="2416987" cy="26365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41270"/>
            <a:ext cx="1795195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3E6DE0"/>
                </a:solidFill>
                <a:latin typeface="Cambria"/>
              </a:rPr>
              <a:t>62 %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473958"/>
            <a:ext cx="1795195" cy="496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11A33"/>
                </a:solidFill>
                <a:latin typeface="Calibri"/>
              </a:rPr>
              <a:t>Angebotsquote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8798"/>
            <a:ext cx="1795195" cy="420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5A6784"/>
                </a:solidFill>
                <a:latin typeface="Calibri"/>
              </a:rPr>
              <a:t>Anteil der Anfragen mit Angebot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747" y="2157222"/>
            <a:ext cx="2416987" cy="26365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643" y="2541270"/>
            <a:ext cx="1795195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3E6DE0"/>
                </a:solidFill>
                <a:latin typeface="Cambria"/>
              </a:rPr>
              <a:t>4,1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643" y="3473958"/>
            <a:ext cx="1795195" cy="496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11A33"/>
                </a:solidFill>
                <a:latin typeface="Calibri"/>
              </a:rPr>
              <a:t>Ø Jahresarbeitszahl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643" y="4098798"/>
            <a:ext cx="1795195" cy="4206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5A6784"/>
                </a:solidFill>
                <a:latin typeface="Calibri"/>
              </a:rPr>
              <a:t>über alle installierten Anlagen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Was sich verändert 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98626"/>
            <a:ext cx="9082735" cy="3093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500" b="0" i="0">
                <a:solidFill>
                  <a:srgbClr val="5A6784"/>
                </a:solidFill>
                <a:latin typeface="Calibri"/>
              </a:rPr>
              <a:t>Vier Entwicklungen, die unser Geschäftsmodell direkt betreffen.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45742"/>
            <a:ext cx="10545775" cy="9260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8" y="1998440"/>
            <a:ext cx="420624" cy="42062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1937289"/>
            <a:ext cx="8963863" cy="29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11A33"/>
                </a:solidFill>
                <a:latin typeface="Cambria"/>
              </a:rPr>
              <a:t>Förderung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2267616"/>
            <a:ext cx="8963863" cy="2674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Der Zuschuss deckt inzwischen bis zu 70 % der Investitionssumme im selbstgenutzten Eigenheim.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72930"/>
            <a:ext cx="10545775" cy="9260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3125628"/>
            <a:ext cx="420624" cy="42062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3064478"/>
            <a:ext cx="8963863" cy="29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11A33"/>
                </a:solidFill>
                <a:latin typeface="Cambria"/>
              </a:rPr>
              <a:t>Handwerk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3394805"/>
            <a:ext cx="8963863" cy="2674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Die Kapazität der Partnerbetriebe ist der Engpass, nicht mehr die Gerätelieferung.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00119"/>
            <a:ext cx="10545775" cy="9260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4252817"/>
            <a:ext cx="420624" cy="42062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4191666"/>
            <a:ext cx="8963863" cy="29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11A33"/>
                </a:solidFill>
                <a:latin typeface="Cambria"/>
              </a:rPr>
              <a:t>Wettbewerb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4521993"/>
            <a:ext cx="8963863" cy="2674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Drei internationale Anbieter sind mit eigenen Montageteams in den Markt eingetreten.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27307"/>
            <a:ext cx="10545775" cy="926020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5380005"/>
            <a:ext cx="420624" cy="42062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5318855"/>
            <a:ext cx="8963863" cy="293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650" b="1" i="0">
                <a:solidFill>
                  <a:srgbClr val="111A33"/>
                </a:solidFill>
                <a:latin typeface="Cambria"/>
              </a:rPr>
              <a:t>Kundenerwartung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5649182"/>
            <a:ext cx="8963863" cy="2674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Angebot innerhalb von 48 Stunden gilt inzwischen als Standard, nicht als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Absatzentwicklung nach Segment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6641"/>
            <a:ext cx="3337560" cy="4726686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2959989"/>
            <a:ext cx="271576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50" b="1" i="0" spc="140">
                <a:solidFill>
                  <a:srgbClr val="3E6DE0"/>
                </a:solidFill>
                <a:latin typeface="Calibri"/>
              </a:rPr>
              <a:t>KERNAUSSAGE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380613"/>
            <a:ext cx="2715768" cy="1130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11A33"/>
                </a:solidFill>
                <a:latin typeface="Calibri"/>
              </a:rPr>
              <a:t>Der Bestandsbau hat den Neubau 2025 überholt und trägt inzwischen zwei Drittel des Volumens.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71416" y="1280921"/>
          <a:ext cx="6897319" cy="47724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737360" y="3108960"/>
            <a:ext cx="5120640" cy="5120640"/>
          </a:xfrm>
          <a:prstGeom prst="ellipse">
            <a:avLst/>
          </a:prstGeom>
          <a:solidFill>
            <a:srgbClr val="15244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280160"/>
            <a:ext cx="4023360" cy="4023360"/>
          </a:xfrm>
          <a:prstGeom prst="ellipse">
            <a:avLst/>
          </a:prstGeom>
          <a:solidFill>
            <a:srgbClr val="2028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1852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2840" y="507492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9556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1852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92840" y="5349240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9556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6988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4420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1852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92840" y="5623559"/>
            <a:ext cx="56692" cy="56692"/>
          </a:xfrm>
          <a:prstGeom prst="ellipse">
            <a:avLst/>
          </a:prstGeom>
          <a:solidFill>
            <a:srgbClr val="5259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702815"/>
            <a:ext cx="2926080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7800" b="1" i="0">
                <a:solidFill>
                  <a:srgbClr val="2B4B9C"/>
                </a:solidFill>
                <a:latin typeface="Cambr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39008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Drei Hebel für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43680"/>
            <a:ext cx="6766560" cy="343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B7C3E8"/>
                </a:solidFill>
                <a:latin typeface="Calibri"/>
              </a:rPr>
              <a:t>Wo wir Wirkung erzielen können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Unsere drei Hebel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98626"/>
            <a:ext cx="9082735" cy="3093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500" b="0" i="0">
                <a:solidFill>
                  <a:srgbClr val="5A6784"/>
                </a:solidFill>
                <a:latin typeface="Calibri"/>
              </a:rPr>
              <a:t>Jeder Hebel zahlt auf ein eigenes Engpassproblem ein.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8662"/>
            <a:ext cx="3320186" cy="2564384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" y="2577845"/>
            <a:ext cx="457200" cy="45720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199638"/>
            <a:ext cx="2625242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Montage-Netzwerk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587750"/>
            <a:ext cx="2625242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40 zusätzliche zertifizierte Partnerbetriebe bis Q3, mit garantierten Kapazitätsfenstern.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5754" y="2248662"/>
            <a:ext cx="3320186" cy="2564384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83226" y="2577845"/>
            <a:ext cx="457200" cy="45720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3226" y="3199638"/>
            <a:ext cx="2625242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Digitale Vorplanung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3226" y="3587750"/>
            <a:ext cx="2625242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Heizlastberechnung aus Gebäudedaten in unter zehn Minuten statt zwei Terminen vor 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8548" y="2248662"/>
            <a:ext cx="3320186" cy="2564384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96020" y="2577845"/>
            <a:ext cx="457200" cy="45720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6020" y="3199638"/>
            <a:ext cx="2625242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Servicevertrag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6020" y="3587750"/>
            <a:ext cx="2625242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5A6784"/>
                </a:solidFill>
                <a:latin typeface="Calibri"/>
              </a:rPr>
              <a:t>Wartung und Monitoring als Abo – planbarer Umsatz nach dem Anlagenverkauf.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Angebotsprozess heute und morgen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2401"/>
            <a:ext cx="5080863" cy="3456431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2094737"/>
            <a:ext cx="4312767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000" b="1" i="0">
                <a:solidFill>
                  <a:srgbClr val="111A33"/>
                </a:solidFill>
                <a:latin typeface="Cambria"/>
              </a:rPr>
              <a:t>Heute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588514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Durchschnittlich 11 Tage bis zum Angebot</a:t>
            </a:r>
          </a:p>
        </p:txBody>
      </p:sp>
      <p:sp>
        <p:nvSpPr>
          <p:cNvPr id="6" name="Oval 5"/>
          <p:cNvSpPr/>
          <p:nvPr/>
        </p:nvSpPr>
        <p:spPr>
          <a:xfrm>
            <a:off x="1225296" y="3153410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3082290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Zwei Vor-Ort-Termine notwendig</a:t>
            </a:r>
          </a:p>
        </p:txBody>
      </p:sp>
      <p:sp>
        <p:nvSpPr>
          <p:cNvPr id="8" name="Oval 7"/>
          <p:cNvSpPr/>
          <p:nvPr/>
        </p:nvSpPr>
        <p:spPr>
          <a:xfrm>
            <a:off x="1225296" y="3615182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3544061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Heizlast manuell im Tabellenblatt</a:t>
            </a:r>
          </a:p>
        </p:txBody>
      </p:sp>
      <p:sp>
        <p:nvSpPr>
          <p:cNvPr id="10" name="Oval 9"/>
          <p:cNvSpPr/>
          <p:nvPr/>
        </p:nvSpPr>
        <p:spPr>
          <a:xfrm>
            <a:off x="1225296" y="4076954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4005834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Angebot als PDF per E-Mail</a:t>
            </a:r>
          </a:p>
        </p:txBody>
      </p:sp>
      <p:sp>
        <p:nvSpPr>
          <p:cNvPr id="12" name="Oval 11"/>
          <p:cNvSpPr/>
          <p:nvPr/>
        </p:nvSpPr>
        <p:spPr>
          <a:xfrm>
            <a:off x="1225296" y="4538726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4467606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Keine Rückmeldung zur Förderfähigkeit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7871" y="1692401"/>
            <a:ext cx="5080863" cy="3456431"/>
          </a:xfrm>
          <a:prstGeom prst="roundRect">
            <a:avLst>
              <a:gd name="adj" fmla="val 5000"/>
            </a:avLst>
          </a:prstGeom>
          <a:solidFill>
            <a:srgbClr val="E8EDFB"/>
          </a:solidFill>
          <a:ln>
            <a:noFill/>
          </a:ln>
          <a:effectLst>
            <a:outerShdw blurRad="203200" dist="44450" dir="5400000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1919" y="2094737"/>
            <a:ext cx="4312767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000" b="1" i="0">
                <a:solidFill>
                  <a:srgbClr val="111A33"/>
                </a:solidFill>
                <a:latin typeface="Cambria"/>
              </a:rPr>
              <a:t>Ab Q3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1919" y="2588514"/>
            <a:ext cx="431276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Ziel: 48 Stunden bis zum Angebot</a:t>
            </a:r>
          </a:p>
        </p:txBody>
      </p:sp>
      <p:sp>
        <p:nvSpPr>
          <p:cNvPr id="17" name="Oval 16"/>
          <p:cNvSpPr/>
          <p:nvPr/>
        </p:nvSpPr>
        <p:spPr>
          <a:xfrm>
            <a:off x="6690207" y="3153410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1103" y="3082290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Ein Termin, digital vorbereitet</a:t>
            </a:r>
          </a:p>
        </p:txBody>
      </p:sp>
      <p:sp>
        <p:nvSpPr>
          <p:cNvPr id="19" name="Oval 18"/>
          <p:cNvSpPr/>
          <p:nvPr/>
        </p:nvSpPr>
        <p:spPr>
          <a:xfrm>
            <a:off x="6690207" y="3615182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3544061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Heizlast automatisch aus Gebäudedaten</a:t>
            </a:r>
          </a:p>
        </p:txBody>
      </p:sp>
      <p:sp>
        <p:nvSpPr>
          <p:cNvPr id="21" name="Oval 20"/>
          <p:cNvSpPr/>
          <p:nvPr/>
        </p:nvSpPr>
        <p:spPr>
          <a:xfrm>
            <a:off x="6690207" y="4076954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1103" y="4005834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Angebot interaktiv im Kundenportal</a:t>
            </a:r>
          </a:p>
        </p:txBody>
      </p:sp>
      <p:sp>
        <p:nvSpPr>
          <p:cNvPr id="23" name="Oval 22"/>
          <p:cNvSpPr/>
          <p:nvPr/>
        </p:nvSpPr>
        <p:spPr>
          <a:xfrm>
            <a:off x="6690207" y="4538726"/>
            <a:ext cx="91440" cy="9144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1103" y="4467606"/>
            <a:ext cx="3965295" cy="278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111A33"/>
                </a:solidFill>
                <a:latin typeface="Calibri"/>
              </a:rPr>
              <a:t>Förderhöhe direkt im Angebot ausgewiesen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Umsetzung in vier Phasen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1181" y="3626789"/>
            <a:ext cx="7909331" cy="14630"/>
          </a:xfrm>
          <a:prstGeom prst="rect">
            <a:avLst/>
          </a:prstGeom>
          <a:solidFill>
            <a:srgbClr val="E0E4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596769"/>
            <a:ext cx="241698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 spc="100">
                <a:solidFill>
                  <a:srgbClr val="3E6DE0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907665"/>
            <a:ext cx="2416987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Pilot</a:t>
            </a:r>
          </a:p>
        </p:txBody>
      </p:sp>
      <p:sp>
        <p:nvSpPr>
          <p:cNvPr id="6" name="Oval 5"/>
          <p:cNvSpPr/>
          <p:nvPr/>
        </p:nvSpPr>
        <p:spPr>
          <a:xfrm>
            <a:off x="1839429" y="3332353"/>
            <a:ext cx="603504" cy="60350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173601"/>
            <a:ext cx="2416987" cy="682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Drei Regionen, 15 Partnerbetriebe, enge Begleitung.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9131" y="2596769"/>
            <a:ext cx="241698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 spc="100">
                <a:solidFill>
                  <a:srgbClr val="3E6DE0"/>
                </a:solidFill>
                <a:latin typeface="Calibr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9131" y="2907665"/>
            <a:ext cx="2416987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Rollout Süd</a:t>
            </a:r>
          </a:p>
        </p:txBody>
      </p:sp>
      <p:sp>
        <p:nvSpPr>
          <p:cNvPr id="10" name="Oval 9"/>
          <p:cNvSpPr/>
          <p:nvPr/>
        </p:nvSpPr>
        <p:spPr>
          <a:xfrm>
            <a:off x="4475873" y="3332353"/>
            <a:ext cx="603504" cy="60350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131" y="4173601"/>
            <a:ext cx="2416987" cy="682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Ausweitung auf Bayern und Baden-Württemberg.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5575" y="2596769"/>
            <a:ext cx="241698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 spc="100">
                <a:solidFill>
                  <a:srgbClr val="3E6DE0"/>
                </a:solidFill>
                <a:latin typeface="Calibri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5575" y="2907665"/>
            <a:ext cx="2416987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Portal live</a:t>
            </a:r>
          </a:p>
        </p:txBody>
      </p:sp>
      <p:sp>
        <p:nvSpPr>
          <p:cNvPr id="14" name="Oval 13"/>
          <p:cNvSpPr/>
          <p:nvPr/>
        </p:nvSpPr>
        <p:spPr>
          <a:xfrm>
            <a:off x="7112317" y="3332353"/>
            <a:ext cx="603504" cy="60350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4173601"/>
            <a:ext cx="2416987" cy="682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Kundenportal mit Förderrechner für alle Regionen.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019" y="2596769"/>
            <a:ext cx="241698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 spc="100">
                <a:solidFill>
                  <a:srgbClr val="3E6DE0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019" y="2907665"/>
            <a:ext cx="2416987" cy="296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11A33"/>
                </a:solidFill>
                <a:latin typeface="Cambria"/>
              </a:rPr>
              <a:t>Skalierung</a:t>
            </a:r>
          </a:p>
        </p:txBody>
      </p:sp>
      <p:sp>
        <p:nvSpPr>
          <p:cNvPr id="18" name="Oval 17"/>
          <p:cNvSpPr/>
          <p:nvPr/>
        </p:nvSpPr>
        <p:spPr>
          <a:xfrm>
            <a:off x="9748761" y="3332353"/>
            <a:ext cx="603504" cy="603504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019" y="4173601"/>
            <a:ext cx="2416987" cy="682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sz="1250" b="0" i="0">
                <a:solidFill>
                  <a:srgbClr val="5A6784"/>
                </a:solidFill>
                <a:latin typeface="Calibri"/>
              </a:rPr>
              <a:t>Vollständige Abdeckung, Servicevertrag im Standard.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180015" cy="540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111A33"/>
                </a:solidFill>
                <a:latin typeface="Cambria"/>
              </a:rPr>
              <a:t>Investitionsbedarf nach Hebel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6682"/>
          <a:ext cx="10545775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Hebel</a:t>
                      </a:r>
                    </a:p>
                  </a:txBody>
                  <a:tcPr marL="146304" marR="109728" marT="54864" marB="54864" anchor="ctr">
                    <a:solidFill>
                      <a:srgbClr val="3E6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Investition</a:t>
                      </a:r>
                    </a:p>
                  </a:txBody>
                  <a:tcPr marL="146304" marR="109728" marT="54864" marB="54864" anchor="ctr">
                    <a:solidFill>
                      <a:srgbClr val="3E6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Laufzeit</a:t>
                      </a:r>
                    </a:p>
                  </a:txBody>
                  <a:tcPr marL="146304" marR="109728" marT="54864" marB="54864" anchor="ctr">
                    <a:solidFill>
                      <a:srgbClr val="3E6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Erwarteter Effekt</a:t>
                      </a:r>
                    </a:p>
                  </a:txBody>
                  <a:tcPr marL="146304" marR="109728" marT="54864" marB="54864" anchor="ctr">
                    <a:solidFill>
                      <a:srgbClr val="3E6DE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A33"/>
                          </a:solidFill>
                          <a:latin typeface="Calibri"/>
                        </a:rPr>
                        <a:t>Montage-Netzwerk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1,8 Mio. €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12 Monate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+40 Betriebe, +2.400 Installationen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A33"/>
                          </a:solidFill>
                          <a:latin typeface="Calibri"/>
                        </a:rPr>
                        <a:t>Digitale Vorplanung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0,9 Mio. €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9 Monate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Angebotszeit von 11 auf 2 Tage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A33"/>
                          </a:solidFill>
                          <a:latin typeface="Calibri"/>
                        </a:rPr>
                        <a:t>Servicevertrag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0,4 Mio. €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6 Monate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18 % wiederkehrender Umsatzanteil</a:t>
                      </a:r>
                    </a:p>
                  </a:txBody>
                  <a:tcPr marL="146304" marR="109728" marT="54864" marB="54864" anchor="ctr">
                    <a:solidFill>
                      <a:srgbClr val="F2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A33"/>
                          </a:solidFill>
                          <a:latin typeface="Calibri"/>
                        </a:rPr>
                        <a:t>Schulung &amp; Zertifizierung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0,3 Mio. €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laufend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784"/>
                          </a:solidFill>
                          <a:latin typeface="Calibri"/>
                        </a:rPr>
                        <a:t>Reklamationsquote unter 3 %</a:t>
                      </a:r>
                    </a:p>
                  </a:txBody>
                  <a:tcPr marL="146304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38D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188720"/>
            <a:ext cx="4937760" cy="4937760"/>
          </a:xfrm>
          <a:prstGeom prst="ellipse">
            <a:avLst/>
          </a:prstGeom>
          <a:solidFill>
            <a:srgbClr val="192B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840480"/>
            <a:ext cx="3840480" cy="3840480"/>
          </a:xfrm>
          <a:prstGeom prst="ellipse">
            <a:avLst/>
          </a:prstGeom>
          <a:solidFill>
            <a:srgbClr val="1B244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1000" b="1" i="0">
                <a:solidFill>
                  <a:srgbClr val="294794"/>
                </a:solidFill>
                <a:latin typeface="Cambr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414016"/>
            <a:ext cx="9601200" cy="1572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000" b="0" i="1">
                <a:solidFill>
                  <a:srgbClr val="FFFFFF"/>
                </a:solidFill>
                <a:latin typeface="Cambria"/>
              </a:rPr>
              <a:t>Wir verlieren keine Aufträge am Preis. Wir verlieren sie, weil jemand anderes drei Tage früher ein Angebot auf dem Tisch hat.</a:t>
            </a:r>
          </a:p>
        </p:txBody>
      </p:sp>
      <p:sp>
        <p:nvSpPr>
          <p:cNvPr id="6" name="Oval 5"/>
          <p:cNvSpPr/>
          <p:nvPr/>
        </p:nvSpPr>
        <p:spPr>
          <a:xfrm>
            <a:off x="886968" y="4500676"/>
            <a:ext cx="137160" cy="137160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0F1836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36668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B7C3E8"/>
                </a:solidFill>
                <a:latin typeface="Calibri"/>
              </a:rPr>
              <a:t>Vertriebsleitung Region Süd, Quartalsgespräch Januar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96313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Beispiel Energie AG · Strategie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276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900" b="0" i="0">
                <a:solidFill>
                  <a:srgbClr val="8D98B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5320" y="-1508760"/>
            <a:ext cx="5669280" cy="5669280"/>
          </a:xfrm>
          <a:prstGeom prst="ellipse">
            <a:avLst/>
          </a:prstGeom>
          <a:solidFill>
            <a:srgbClr val="17265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-502920"/>
            <a:ext cx="3657600" cy="3657600"/>
          </a:xfrm>
          <a:prstGeom prst="ellipse">
            <a:avLst/>
          </a:prstGeom>
          <a:solidFill>
            <a:srgbClr val="2028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52360" y="1417320"/>
            <a:ext cx="2834640" cy="2834640"/>
          </a:xfrm>
          <a:prstGeom prst="ellipse">
            <a:avLst/>
          </a:prstGeom>
          <a:noFill/>
          <a:ln w="12700">
            <a:solidFill>
              <a:srgbClr val="575D7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556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988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18520" y="470916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4692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2124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9556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988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4420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18520" y="498348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4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9556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18520" y="5257800"/>
            <a:ext cx="56692" cy="56692"/>
          </a:xfrm>
          <a:prstGeom prst="ellipse">
            <a:avLst/>
          </a:prstGeom>
          <a:solidFill>
            <a:srgbClr val="575D7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100" b="1" i="0">
                <a:solidFill>
                  <a:srgbClr val="FFFFFF"/>
                </a:solidFill>
                <a:latin typeface="Cambria"/>
              </a:rPr>
              <a:t>Entscheidung im Aufsichtsrat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700" b="0" i="0">
                <a:solidFill>
                  <a:srgbClr val="B7C3E8"/>
                </a:solidFill>
                <a:latin typeface="Calibri"/>
              </a:rPr>
              <a:t>Wir bitten um Freigabe des Investitionsrahmens von 3,4 Mio. € für das Geschäftsjahr 2027.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709159"/>
            <a:ext cx="96012" cy="96012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" y="46177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B7C3E8"/>
                </a:solidFill>
                <a:latin typeface="Calibri"/>
              </a:rPr>
              <a:t>strategie@beispiel-energie.at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5093207"/>
            <a:ext cx="96012" cy="96012"/>
          </a:xfrm>
          <a:prstGeom prst="ellipse">
            <a:avLst/>
          </a:prstGeom>
          <a:solidFill>
            <a:srgbClr val="3E6D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" y="50017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B7C3E8"/>
                </a:solidFill>
                <a:latin typeface="Calibri"/>
              </a:rPr>
              <a:t>Detailunterlagen im Datenraum, Ordner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Wärmepumpen im Bestandsbau</dc:title>
  <dc:subject>Strategiepapier 2027</dc:subject>
  <dc:creator>Martin Gegenbauer</dc:creator>
  <cp:keywords/>
  <dc:description>Erstellt mit dem Open-WebUI Präsentations-Generator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